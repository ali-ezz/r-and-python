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806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03050"/>
                </a:solidFill>
              </a:rPr>
              <a:t>SELECT * FROM users;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34095" y="5760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03050"/>
                </a:solidFill>
              </a:rPr>
              <a:t>session.add(user)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55767" y="731520"/>
            <a:ext cx="1280160" cy="1143000"/>
          </a:xfrm>
          <a:prstGeom prst="rect">
            <a:avLst/>
          </a:prstGeom>
          <a:solidFill>
            <a:srgbClr val="151A2E"/>
          </a:solidFill>
          <a:ln w="25400">
            <a:solidFill>
              <a:srgbClr val="1E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547207" y="82296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🗄️  ⚡</a:t>
            </a:r>
          </a:p>
        </p:txBody>
      </p:sp>
      <p:sp>
        <p:nvSpPr>
          <p:cNvPr id="6" name="Rectangle 5"/>
          <p:cNvSpPr/>
          <p:nvPr/>
        </p:nvSpPr>
        <p:spPr>
          <a:xfrm>
            <a:off x="5364327" y="1965960"/>
            <a:ext cx="146304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</a:rPr>
              <a:t>ORM &amp; </a:t>
            </a:r>
            <a:r>
              <a:rPr sz="5200" b="1">
                <a:solidFill>
                  <a:srgbClr val="00D4FF"/>
                </a:solidFill>
              </a:rPr>
              <a:t>MySQL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0ADC4"/>
                </a:solidFill>
              </a:rPr>
              <a:t>From Raw SQL to Object-Relational Mapping  🚀</a:t>
            </a:r>
          </a:p>
        </p:txBody>
      </p:sp>
      <p:sp>
        <p:nvSpPr>
          <p:cNvPr id="9" name="Rectangle 8"/>
          <p:cNvSpPr/>
          <p:nvPr/>
        </p:nvSpPr>
        <p:spPr>
          <a:xfrm>
            <a:off x="3274269" y="4206240"/>
            <a:ext cx="5817479" cy="1005840"/>
          </a:xfrm>
          <a:prstGeom prst="rect">
            <a:avLst/>
          </a:prstGeom>
          <a:solidFill>
            <a:srgbClr val="12182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33795" y="4480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&gt;_  TA Ahmed Mohamed &amp; TA. Ahmed Mostafa  |  Section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What We'll Cover Today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15568"/>
            <a:ext cx="1280160" cy="4445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446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DC4"/>
                </a:solidFill>
              </a:rPr>
              <a:t>&lt;/&gt;  TA Ahmed Mohamed  |  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0D4FF"/>
                </a:solidFill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3657600" cy="1188720"/>
          </a:xfrm>
          <a:prstGeom prst="rect">
            <a:avLst/>
          </a:prstGeom>
          <a:solidFill>
            <a:srgbClr val="151A2E"/>
          </a:solidFill>
          <a:ln w="12700">
            <a:solidFill>
              <a:srgbClr val="1E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508760"/>
            <a:ext cx="50800" cy="914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2648" y="1463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D4FF"/>
                </a:solidFill>
              </a:rPr>
              <a:t>🗄️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1463040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MySQL Fundamentals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1847088"/>
            <a:ext cx="2788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DC4"/>
                </a:solidFill>
              </a:rPr>
              <a:t>Tables, Data Types, Keys, Joins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33672" y="1371600"/>
            <a:ext cx="3657600" cy="1188720"/>
          </a:xfrm>
          <a:prstGeom prst="rect">
            <a:avLst/>
          </a:prstGeom>
          <a:solidFill>
            <a:srgbClr val="151A2E"/>
          </a:solidFill>
          <a:ln w="12700">
            <a:solidFill>
              <a:srgbClr val="1E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33672" y="1508760"/>
            <a:ext cx="50800" cy="914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34840" y="1463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B5CF6"/>
                </a:solidFill>
              </a:rPr>
              <a:t>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1463040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Relationships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1847088"/>
            <a:ext cx="2788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DC4"/>
                </a:solidFill>
              </a:rPr>
              <a:t>One-to-Many, Many-to-Many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55864" y="1371600"/>
            <a:ext cx="3657600" cy="1188720"/>
          </a:xfrm>
          <a:prstGeom prst="rect">
            <a:avLst/>
          </a:prstGeom>
          <a:solidFill>
            <a:srgbClr val="151A2E"/>
          </a:solidFill>
          <a:ln w="12700">
            <a:solidFill>
              <a:srgbClr val="1E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55864" y="1508760"/>
            <a:ext cx="50800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57032" y="1463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0B981"/>
                </a:solidFill>
              </a:rPr>
              <a:t>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8512" y="1463040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What is an ORM?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8512" y="1847088"/>
            <a:ext cx="2788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DC4"/>
                </a:solidFill>
              </a:rPr>
              <a:t>Mapping Python classes to DB tables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2743200"/>
            <a:ext cx="3657600" cy="1188720"/>
          </a:xfrm>
          <a:prstGeom prst="rect">
            <a:avLst/>
          </a:prstGeom>
          <a:solidFill>
            <a:srgbClr val="151A2E"/>
          </a:solidFill>
          <a:ln w="12700">
            <a:solidFill>
              <a:srgbClr val="1E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11480" y="2880360"/>
            <a:ext cx="50800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2648" y="2834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59E0B"/>
                </a:solidFill>
              </a:rPr>
              <a:t>⚙️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" y="2834640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SQLAlchemy Setup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" y="3218688"/>
            <a:ext cx="2788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DC4"/>
                </a:solidFill>
              </a:rPr>
              <a:t>Engine, Session, Base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33672" y="2743200"/>
            <a:ext cx="3657600" cy="1188720"/>
          </a:xfrm>
          <a:prstGeom prst="rect">
            <a:avLst/>
          </a:prstGeom>
          <a:solidFill>
            <a:srgbClr val="151A2E"/>
          </a:solidFill>
          <a:ln w="12700">
            <a:solidFill>
              <a:srgbClr val="1E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233672" y="2880360"/>
            <a:ext cx="50800" cy="914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434840" y="2834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D4FF"/>
                </a:solidFill>
              </a:rPr>
              <a:t>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2834640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CRUD with ORM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0" y="3218688"/>
            <a:ext cx="2788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DC4"/>
                </a:solidFill>
              </a:rPr>
              <a:t>Create · Read · Update · Delete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55864" y="2743200"/>
            <a:ext cx="3657600" cy="1188720"/>
          </a:xfrm>
          <a:prstGeom prst="rect">
            <a:avLst/>
          </a:prstGeom>
          <a:solidFill>
            <a:srgbClr val="151A2E"/>
          </a:solidFill>
          <a:ln w="12700">
            <a:solidFill>
              <a:srgbClr val="1E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055864" y="2880360"/>
            <a:ext cx="50800" cy="914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57032" y="2834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B5CF6"/>
                </a:solidFill>
              </a:rPr>
              <a:t>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68512" y="2834640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ORM vs Raw SQL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68512" y="3218688"/>
            <a:ext cx="2788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DC4"/>
                </a:solidFill>
              </a:rPr>
              <a:t>When to use each approach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What is a Database?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15568"/>
            <a:ext cx="1280160" cy="4445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446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DC4"/>
                </a:solidFill>
              </a:rPr>
              <a:t>&lt;/&gt;  TA Ahmed Mohamed  |  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0D4FF"/>
                </a:solidFill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017520" cy="3474720"/>
          </a:xfrm>
          <a:prstGeom prst="rect">
            <a:avLst/>
          </a:prstGeom>
          <a:solidFill>
            <a:srgbClr val="151A2E"/>
          </a:solidFill>
          <a:ln w="12700">
            <a:solidFill>
              <a:srgbClr val="1E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0" i="0">
                <a:solidFill>
                  <a:srgbClr val="FFFFFF"/>
                </a:solidFill>
              </a:rPr>
              <a:t>🗄️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49039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4FF"/>
                </a:solidFill>
              </a:rPr>
              <a:t>Organized Storage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605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ADC4"/>
                </a:solidFill>
              </a:rPr>
              <a:t>for your application 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49039" y="1234440"/>
            <a:ext cx="8046720" cy="1097280"/>
          </a:xfrm>
          <a:prstGeom prst="rect">
            <a:avLst/>
          </a:prstGeom>
          <a:solidFill>
            <a:srgbClr val="151A2E"/>
          </a:solidFill>
          <a:ln w="12700">
            <a:solidFill>
              <a:srgbClr val="1E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749039" y="1371600"/>
            <a:ext cx="50800" cy="8229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950207" y="1325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D4FF"/>
                </a:solidFill>
              </a:rPr>
              <a:t>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7" y="1325880"/>
            <a:ext cx="7178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Structured Storage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1687" y="1709928"/>
            <a:ext cx="717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DC4"/>
                </a:solidFill>
              </a:rPr>
              <a:t>Data is organized into tables with rows &amp; columns — just like a spreadsheet, but much more powerful.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49039" y="2468880"/>
            <a:ext cx="8046720" cy="1097280"/>
          </a:xfrm>
          <a:prstGeom prst="rect">
            <a:avLst/>
          </a:prstGeom>
          <a:solidFill>
            <a:srgbClr val="151A2E"/>
          </a:solidFill>
          <a:ln w="12700">
            <a:solidFill>
              <a:srgbClr val="1E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749039" y="2606040"/>
            <a:ext cx="50800" cy="8229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950207" y="2560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B5CF6"/>
                </a:solidFill>
              </a:rPr>
              <a:t>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1687" y="2560320"/>
            <a:ext cx="7178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Queryable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1687" y="2944368"/>
            <a:ext cx="717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DC4"/>
                </a:solidFill>
              </a:rPr>
              <a:t>You can search, filter, sort and combine data using SQL (Structured Query Language).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49039" y="3703320"/>
            <a:ext cx="8046720" cy="1097280"/>
          </a:xfrm>
          <a:prstGeom prst="rect">
            <a:avLst/>
          </a:prstGeom>
          <a:solidFill>
            <a:srgbClr val="151A2E"/>
          </a:solidFill>
          <a:ln w="12700">
            <a:solidFill>
              <a:srgbClr val="1E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749039" y="3840480"/>
            <a:ext cx="50800" cy="822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950207" y="3794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0B981"/>
                </a:solidFill>
              </a:rPr>
              <a:t>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61687" y="3794760"/>
            <a:ext cx="7178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Persistent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61687" y="4178808"/>
            <a:ext cx="717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DC4"/>
                </a:solidFill>
              </a:rPr>
              <a:t>Data survives even when your app restarts — unlike Python variables or lists in memory.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Why MySQL?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15568"/>
            <a:ext cx="1280160" cy="4445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446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DC4"/>
                </a:solidFill>
              </a:rPr>
              <a:t>&lt;/&gt;  TA Ahmed Mohamed  |  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0D4FF"/>
                </a:solidFill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5486400" cy="1234440"/>
          </a:xfrm>
          <a:prstGeom prst="rect">
            <a:avLst/>
          </a:prstGeom>
          <a:solidFill>
            <a:srgbClr val="151A2E"/>
          </a:solidFill>
          <a:ln w="12700">
            <a:solidFill>
              <a:srgbClr val="1E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508760"/>
            <a:ext cx="50800" cy="9601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2648" y="1463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D4FF"/>
                </a:solidFill>
              </a:rPr>
              <a:t>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1463040"/>
            <a:ext cx="4617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Most Popular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1847088"/>
            <a:ext cx="4617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DC4"/>
                </a:solidFill>
              </a:rPr>
              <a:t>MySQL is the world's most widely-used open-source relational database. Used by Facebook, YouTube, and Twitter.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371600"/>
            <a:ext cx="5486400" cy="1234440"/>
          </a:xfrm>
          <a:prstGeom prst="rect">
            <a:avLst/>
          </a:prstGeom>
          <a:solidFill>
            <a:srgbClr val="151A2E"/>
          </a:solidFill>
          <a:ln w="12700">
            <a:solidFill>
              <a:srgbClr val="1E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1508760"/>
            <a:ext cx="50800" cy="960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3368" y="1463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0B981"/>
                </a:solidFill>
              </a:rPr>
              <a:t>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4848" y="1463040"/>
            <a:ext cx="4617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Free &amp; Open 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4848" y="1847088"/>
            <a:ext cx="4617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DC4"/>
                </a:solidFill>
              </a:rPr>
              <a:t>No license fees. Easy to install on any platform — Windows, Mac, or Linux.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807208"/>
            <a:ext cx="5486400" cy="1234440"/>
          </a:xfrm>
          <a:prstGeom prst="rect">
            <a:avLst/>
          </a:prstGeom>
          <a:solidFill>
            <a:srgbClr val="151A2E"/>
          </a:solidFill>
          <a:ln w="12700">
            <a:solidFill>
              <a:srgbClr val="1E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11480" y="2944368"/>
            <a:ext cx="50800" cy="960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2648" y="28986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59E0B"/>
                </a:solidFill>
              </a:rPr>
              <a:t>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2898648"/>
            <a:ext cx="4617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Fast &amp; Reliable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3282696"/>
            <a:ext cx="4617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DC4"/>
                </a:solidFill>
              </a:rPr>
              <a:t>Optimised for read-heavy workloads. Handles millions of rows efficiently with the right indexes.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2807208"/>
            <a:ext cx="5486400" cy="1234440"/>
          </a:xfrm>
          <a:prstGeom prst="rect">
            <a:avLst/>
          </a:prstGeom>
          <a:solidFill>
            <a:srgbClr val="151A2E"/>
          </a:solidFill>
          <a:ln w="12700">
            <a:solidFill>
              <a:srgbClr val="1E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72200" y="2944368"/>
            <a:ext cx="50800" cy="9601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73368" y="28986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B5CF6"/>
                </a:solidFill>
              </a:rPr>
              <a:t>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84848" y="2898648"/>
            <a:ext cx="4617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Great Python Support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84848" y="3282696"/>
            <a:ext cx="4617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DC4"/>
                </a:solidFill>
              </a:rPr>
              <a:t>Works seamlessly with SQLAlchemy, PyMySQL, mysql-connector-python and FastAPI.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4846320"/>
            <a:ext cx="11338560" cy="685800"/>
          </a:xfrm>
          <a:prstGeom prst="rect">
            <a:avLst/>
          </a:prstGeom>
          <a:solidFill>
            <a:srgbClr val="122030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8640" y="4892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💡  Note: MySQL uses a relational model — data lives in tables that can relate to each other via Foreign Keys.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MySQL Core Concepts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15568"/>
            <a:ext cx="1280160" cy="4445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446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DC4"/>
                </a:solidFill>
              </a:rPr>
              <a:t>&lt;/&gt;  TA Ahmed Mohamed  |  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0D4FF"/>
                </a:solidFill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25880"/>
            <a:ext cx="5303520" cy="1051560"/>
          </a:xfrm>
          <a:prstGeom prst="rect">
            <a:avLst/>
          </a:prstGeom>
          <a:solidFill>
            <a:srgbClr val="151A2E"/>
          </a:solidFill>
          <a:ln w="12700">
            <a:solidFill>
              <a:srgbClr val="1E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463040"/>
            <a:ext cx="50800" cy="7772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2648" y="1417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D4FF"/>
                </a:solidFill>
              </a:rPr>
              <a:t>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1417320"/>
            <a:ext cx="4434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Table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1801368"/>
            <a:ext cx="4434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DC4"/>
                </a:solidFill>
              </a:rPr>
              <a:t>A structured grid that stores data of the same type (e.g. Users, Products).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487168"/>
            <a:ext cx="5303520" cy="1051560"/>
          </a:xfrm>
          <a:prstGeom prst="rect">
            <a:avLst/>
          </a:prstGeom>
          <a:solidFill>
            <a:srgbClr val="151A2E"/>
          </a:solidFill>
          <a:ln w="12700">
            <a:solidFill>
              <a:srgbClr val="1E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1480" y="2624328"/>
            <a:ext cx="50800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2648" y="257860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0B981"/>
                </a:solidFill>
              </a:rPr>
              <a:t>➡️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2578608"/>
            <a:ext cx="4434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Row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2962656"/>
            <a:ext cx="4434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DC4"/>
                </a:solidFill>
              </a:rPr>
              <a:t>A single record in a table — one user, one product, one order.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648456"/>
            <a:ext cx="5303520" cy="1051560"/>
          </a:xfrm>
          <a:prstGeom prst="rect">
            <a:avLst/>
          </a:prstGeom>
          <a:solidFill>
            <a:srgbClr val="151A2E"/>
          </a:solidFill>
          <a:ln w="12700">
            <a:solidFill>
              <a:srgbClr val="1E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11480" y="3785616"/>
            <a:ext cx="50800" cy="7772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2648" y="373989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B5CF6"/>
                </a:solidFill>
              </a:rPr>
              <a:t>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3739896"/>
            <a:ext cx="4434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Column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4123944"/>
            <a:ext cx="4434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DC4"/>
                </a:solidFill>
              </a:rPr>
              <a:t>An attribute/field that every row must have (e.g. name, email, age).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809744"/>
            <a:ext cx="5303520" cy="1051560"/>
          </a:xfrm>
          <a:prstGeom prst="rect">
            <a:avLst/>
          </a:prstGeom>
          <a:solidFill>
            <a:srgbClr val="151A2E"/>
          </a:solidFill>
          <a:ln w="12700">
            <a:solidFill>
              <a:srgbClr val="1E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11480" y="4946904"/>
            <a:ext cx="50800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2648" y="490118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59E0B"/>
                </a:solidFill>
              </a:rPr>
              <a:t>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" y="4901184"/>
            <a:ext cx="4434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Primary Key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" y="5285232"/>
            <a:ext cx="4434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DC4"/>
                </a:solidFill>
              </a:rPr>
              <a:t>A unique identifier for every row — no duplicates allowed (e.g. id).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1325880"/>
            <a:ext cx="5669280" cy="4206240"/>
          </a:xfrm>
          <a:prstGeom prst="rect">
            <a:avLst/>
          </a:prstGeom>
          <a:solidFill>
            <a:srgbClr val="151A2E"/>
          </a:solidFill>
          <a:ln w="12700">
            <a:solidFill>
              <a:srgbClr val="1E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09360" y="14173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📋  users  table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1874519"/>
            <a:ext cx="5577840" cy="365760"/>
          </a:xfrm>
          <a:prstGeom prst="rect">
            <a:avLst/>
          </a:prstGeom>
          <a:solidFill>
            <a:srgbClr val="0F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63640" y="1920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1920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name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1920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email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1920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age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72200" y="2286000"/>
            <a:ext cx="5577840" cy="420624"/>
          </a:xfrm>
          <a:prstGeom prst="rect">
            <a:avLst/>
          </a:prstGeom>
          <a:solidFill>
            <a:srgbClr val="14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63640" y="235000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4FF"/>
                </a:solidFill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79" y="235000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Alice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35000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alice@mail.com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89920" y="235000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24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72200" y="2724912"/>
            <a:ext cx="5577840" cy="420624"/>
          </a:xfrm>
          <a:prstGeom prst="rect">
            <a:avLst/>
          </a:prstGeom>
          <a:solidFill>
            <a:srgbClr val="15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263640" y="27889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4FF"/>
                </a:solidFill>
              </a:rP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79" y="27889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Bob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0" y="27889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bob@mail.com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89920" y="27889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30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72200" y="3163824"/>
            <a:ext cx="5577840" cy="420624"/>
          </a:xfrm>
          <a:prstGeom prst="rect">
            <a:avLst/>
          </a:prstGeom>
          <a:solidFill>
            <a:srgbClr val="14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263640" y="322783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4FF"/>
                </a:solidFill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79" y="322783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Carol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0" y="322783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carol@mail.com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89920" y="322783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22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72200" y="3602736"/>
            <a:ext cx="5577840" cy="420624"/>
          </a:xfrm>
          <a:prstGeom prst="rect">
            <a:avLst/>
          </a:prstGeom>
          <a:solidFill>
            <a:srgbClr val="15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263640" y="366674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4FF"/>
                </a:solidFill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98079" y="366674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Dave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4000" y="366674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dave@mail.com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789920" y="366674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MySQL Data Types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15568"/>
            <a:ext cx="1280160" cy="4445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446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DC4"/>
                </a:solidFill>
              </a:rPr>
              <a:t>&lt;/&gt;  TA Ahmed Mohamed  |  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0D4FF"/>
                </a:solidFill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25880"/>
            <a:ext cx="5394960" cy="2011680"/>
          </a:xfrm>
          <a:prstGeom prst="rect">
            <a:avLst/>
          </a:prstGeom>
          <a:solidFill>
            <a:srgbClr val="151A2E"/>
          </a:solidFill>
          <a:ln w="12700">
            <a:solidFill>
              <a:srgbClr val="1E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325880"/>
            <a:ext cx="539496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6072" y="14173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</a:rPr>
              <a:t>🔢 Numeric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874520"/>
            <a:ext cx="5074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DC4"/>
                </a:solidFill>
              </a:rPr>
              <a:t>• INT — whole numbers (1, 42, -7)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331720"/>
            <a:ext cx="5074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DC4"/>
                </a:solidFill>
              </a:rPr>
              <a:t>• FLOAT / DOUBLE — decimals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788920"/>
            <a:ext cx="5074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DC4"/>
                </a:solidFill>
              </a:rPr>
              <a:t>• DECIMAL(10,2) — precise money values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1325880"/>
            <a:ext cx="5394960" cy="2011680"/>
          </a:xfrm>
          <a:prstGeom prst="rect">
            <a:avLst/>
          </a:prstGeom>
          <a:solidFill>
            <a:srgbClr val="151A2E"/>
          </a:solidFill>
          <a:ln w="12700">
            <a:solidFill>
              <a:srgbClr val="1E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080760" y="1325880"/>
            <a:ext cx="53949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45352" y="14173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🔤 String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1874520"/>
            <a:ext cx="5074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DC4"/>
                </a:solidFill>
              </a:rPr>
              <a:t>• VARCHAR(n) — variable-length text (most common)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928" y="2331720"/>
            <a:ext cx="5074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DC4"/>
                </a:solidFill>
              </a:rPr>
              <a:t>• TEXT — long paragraphs or descriptions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1928" y="2788920"/>
            <a:ext cx="5074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DC4"/>
                </a:solidFill>
              </a:rPr>
              <a:t>• CHAR(n) — fixed-length string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520440"/>
            <a:ext cx="5394960" cy="2011680"/>
          </a:xfrm>
          <a:prstGeom prst="rect">
            <a:avLst/>
          </a:prstGeom>
          <a:solidFill>
            <a:srgbClr val="151A2E"/>
          </a:solidFill>
          <a:ln w="12700">
            <a:solidFill>
              <a:srgbClr val="1E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11480" y="3520440"/>
            <a:ext cx="539496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6072" y="36118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</a:rPr>
              <a:t>📅 Date &amp; 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4069080"/>
            <a:ext cx="5074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DC4"/>
                </a:solidFill>
              </a:rPr>
              <a:t>• DATE — YYYY-MM-DD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" y="4526280"/>
            <a:ext cx="5074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DC4"/>
                </a:solidFill>
              </a:rPr>
              <a:t>• DATETIME — YYYY-MM-DD HH:MM:SS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4983480"/>
            <a:ext cx="5074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DC4"/>
                </a:solidFill>
              </a:rPr>
              <a:t>• TIMESTAMP — auto-updated timestamps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80760" y="3520440"/>
            <a:ext cx="5394960" cy="2011680"/>
          </a:xfrm>
          <a:prstGeom prst="rect">
            <a:avLst/>
          </a:prstGeom>
          <a:solidFill>
            <a:srgbClr val="151A2E"/>
          </a:solidFill>
          <a:ln w="12700">
            <a:solidFill>
              <a:srgbClr val="1E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080760" y="3520440"/>
            <a:ext cx="539496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45352" y="36118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✅ Other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81928" y="4069080"/>
            <a:ext cx="5074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DC4"/>
                </a:solidFill>
              </a:rPr>
              <a:t>• BOOLEAN / TINYINT(1) — True/False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1928" y="4526280"/>
            <a:ext cx="5074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DC4"/>
                </a:solidFill>
              </a:rPr>
              <a:t>• ENUM('a','b') — fixed set of values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81928" y="4983480"/>
            <a:ext cx="5074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DC4"/>
                </a:solidFill>
              </a:rPr>
              <a:t>• JSON — store JSON objects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Creating Tables in MySQL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15568"/>
            <a:ext cx="1280160" cy="4445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446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DC4"/>
                </a:solidFill>
              </a:rPr>
              <a:t>&lt;/&gt;  TA Ahmed Mohamed  |  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0D4FF"/>
                </a:solidFill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25880"/>
            <a:ext cx="5029200" cy="960120"/>
          </a:xfrm>
          <a:prstGeom prst="rect">
            <a:avLst/>
          </a:prstGeom>
          <a:solidFill>
            <a:srgbClr val="151A2E"/>
          </a:solidFill>
          <a:ln w="12700">
            <a:solidFill>
              <a:srgbClr val="1E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463040"/>
            <a:ext cx="50800" cy="685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2648" y="141732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CREATE 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80136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DC4"/>
                </a:solidFill>
              </a:rPr>
              <a:t>Defines the structure — columns &amp; their data types.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395728"/>
            <a:ext cx="5029200" cy="960120"/>
          </a:xfrm>
          <a:prstGeom prst="rect">
            <a:avLst/>
          </a:prstGeom>
          <a:solidFill>
            <a:srgbClr val="151A2E"/>
          </a:solidFill>
          <a:ln w="12700">
            <a:solidFill>
              <a:srgbClr val="1E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1480" y="2532888"/>
            <a:ext cx="50800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2648" y="2487168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PRIMARY KEY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87121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DC4"/>
                </a:solidFill>
              </a:rPr>
              <a:t>Each row gets a unique auto-incrementing id.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465576"/>
            <a:ext cx="5029200" cy="960120"/>
          </a:xfrm>
          <a:prstGeom prst="rect">
            <a:avLst/>
          </a:prstGeom>
          <a:solidFill>
            <a:srgbClr val="151A2E"/>
          </a:solidFill>
          <a:ln w="12700">
            <a:solidFill>
              <a:srgbClr val="1E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11480" y="3602736"/>
            <a:ext cx="50800" cy="685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2648" y="355701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NOT NULL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394106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DC4"/>
                </a:solidFill>
              </a:rPr>
              <a:t>Forces every row to have a value for this column.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4535424"/>
            <a:ext cx="5029200" cy="960120"/>
          </a:xfrm>
          <a:prstGeom prst="rect">
            <a:avLst/>
          </a:prstGeom>
          <a:solidFill>
            <a:srgbClr val="151A2E"/>
          </a:solidFill>
          <a:ln w="12700">
            <a:solidFill>
              <a:srgbClr val="1E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11480" y="4672584"/>
            <a:ext cx="50800" cy="685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2648" y="4626864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VARCHAR(100)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501091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DC4"/>
                </a:solidFill>
              </a:rPr>
              <a:t>Text field that holds up to 100 characters.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0" y="1325880"/>
            <a:ext cx="6309360" cy="3200400"/>
          </a:xfrm>
          <a:prstGeom prst="rect">
            <a:avLst/>
          </a:prstGeom>
          <a:solidFill>
            <a:srgbClr val="0A0E18"/>
          </a:solidFill>
          <a:ln w="12700">
            <a:solidFill>
              <a:srgbClr val="2A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806440" y="1435608"/>
            <a:ext cx="640080" cy="2560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806440" y="141732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E1324"/>
                </a:solidFill>
              </a:rPr>
              <a:t>SQL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33872" y="1764792"/>
            <a:ext cx="60350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4FF"/>
                </a:solidFill>
              </a:rPr>
              <a:t>CREATE TABLE users (
    id      INT AUTO_INCREMENT PRIMARY KEY,
    name    VARCHAR(100) NOT NULL,
    email   VARCHAR(150) NOT NULL UNIQUE,
    age     INT,
    created TIMESTAMP DEFAULT CURRENT_TIMESTAMP
);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0" y="4663440"/>
            <a:ext cx="6309360" cy="685800"/>
          </a:xfrm>
          <a:prstGeom prst="rect">
            <a:avLst/>
          </a:prstGeom>
          <a:solidFill>
            <a:srgbClr val="0D221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806440" y="4709160"/>
            <a:ext cx="6035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✅  Best Practice: Always add an id column as AUTO_INCREMENT PRIMARY KEY.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CRUD Operations in SQL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15568"/>
            <a:ext cx="1280160" cy="4445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446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DC4"/>
                </a:solidFill>
              </a:rPr>
              <a:t>&lt;/&gt;  TA Ahmed Mohamed  |  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0D4FF"/>
                </a:solidFill>
              </a:rP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25880"/>
            <a:ext cx="5394960" cy="2057400"/>
          </a:xfrm>
          <a:prstGeom prst="rect">
            <a:avLst/>
          </a:prstGeom>
          <a:solidFill>
            <a:srgbClr val="151A2E"/>
          </a:solidFill>
          <a:ln w="12700">
            <a:solidFill>
              <a:srgbClr val="1E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325880"/>
            <a:ext cx="539496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6072" y="141732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C  INSERT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5120640" cy="1417320"/>
          </a:xfrm>
          <a:prstGeom prst="rect">
            <a:avLst/>
          </a:prstGeom>
          <a:solidFill>
            <a:srgbClr val="0A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2648" y="1892808"/>
            <a:ext cx="4992624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4FF"/>
                </a:solidFill>
              </a:rPr>
              <a:t>INSERT INTO users (name, email)
VALUES ('Alice', 'alice@mail.com');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1325880"/>
            <a:ext cx="5394960" cy="2057400"/>
          </a:xfrm>
          <a:prstGeom prst="rect">
            <a:avLst/>
          </a:prstGeom>
          <a:solidFill>
            <a:srgbClr val="151A2E"/>
          </a:solidFill>
          <a:ln w="12700">
            <a:solidFill>
              <a:srgbClr val="1E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80760" y="1325880"/>
            <a:ext cx="53949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45352" y="141732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R  SELECT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828800"/>
            <a:ext cx="5120640" cy="1417320"/>
          </a:xfrm>
          <a:prstGeom prst="rect">
            <a:avLst/>
          </a:prstGeom>
          <a:solidFill>
            <a:srgbClr val="0A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81928" y="1892808"/>
            <a:ext cx="4992624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4FF"/>
                </a:solidFill>
              </a:rPr>
              <a:t>SELECT * FROM users
WHERE age &gt; 20
ORDER BY name;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566160"/>
            <a:ext cx="5394960" cy="2057400"/>
          </a:xfrm>
          <a:prstGeom prst="rect">
            <a:avLst/>
          </a:prstGeom>
          <a:solidFill>
            <a:srgbClr val="151A2E"/>
          </a:solidFill>
          <a:ln w="12700">
            <a:solidFill>
              <a:srgbClr val="1E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11480" y="3566160"/>
            <a:ext cx="539496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6072" y="36576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U  UPDATE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069080"/>
            <a:ext cx="5120640" cy="1417320"/>
          </a:xfrm>
          <a:prstGeom prst="rect">
            <a:avLst/>
          </a:prstGeom>
          <a:solidFill>
            <a:srgbClr val="0A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2648" y="4133088"/>
            <a:ext cx="4992624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4FF"/>
                </a:solidFill>
              </a:rPr>
              <a:t>UPDATE users
SET email = 'new@mail.com'
WHERE id = 1;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80760" y="3566160"/>
            <a:ext cx="5394960" cy="2057400"/>
          </a:xfrm>
          <a:prstGeom prst="rect">
            <a:avLst/>
          </a:prstGeom>
          <a:solidFill>
            <a:srgbClr val="151A2E"/>
          </a:solidFill>
          <a:ln w="12700">
            <a:solidFill>
              <a:srgbClr val="1E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080760" y="3566160"/>
            <a:ext cx="539496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45352" y="36576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</a:rPr>
              <a:t>D  DELETE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4069080"/>
            <a:ext cx="5120640" cy="1417320"/>
          </a:xfrm>
          <a:prstGeom prst="rect">
            <a:avLst/>
          </a:prstGeom>
          <a:solidFill>
            <a:srgbClr val="0A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81928" y="4133088"/>
            <a:ext cx="4992624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4FF"/>
                </a:solidFill>
              </a:rPr>
              <a:t>DELETE FROM users
WHERE id = 1;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Primary Keys &amp; Foreign Keys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15568"/>
            <a:ext cx="1280160" cy="444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446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DC4"/>
                </a:solidFill>
              </a:rPr>
              <a:t>&lt;/&gt;  TA Ahmed Mohamed  |  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0D4FF"/>
                </a:solidFill>
              </a:rP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25880"/>
            <a:ext cx="5349240" cy="2194560"/>
          </a:xfrm>
          <a:prstGeom prst="rect">
            <a:avLst/>
          </a:prstGeom>
          <a:solidFill>
            <a:srgbClr val="151A2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</a:rPr>
              <a:t>🔑  Primary Key (PK)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19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DC4"/>
                </a:solidFill>
              </a:rPr>
              <a:t>• Uniquely identifies every row in a table
• Cannot be NULL — every row MUST have one
• Usually an auto-incrementing integer id
• One table can only have ONE primary key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1325880"/>
            <a:ext cx="5669280" cy="2194560"/>
          </a:xfrm>
          <a:prstGeom prst="rect">
            <a:avLst/>
          </a:prstGeom>
          <a:solidFill>
            <a:srgbClr val="151A2E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63640" y="14173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</a:rPr>
              <a:t>🔗  Foreign Key (FK)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874519"/>
            <a:ext cx="5303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DC4"/>
                </a:solidFill>
              </a:rPr>
              <a:t>• References the PK of another table
• Creates a RELATIONSHIP between tables
• Many rows can reference the same parent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3657600"/>
            <a:ext cx="11338560" cy="1828800"/>
          </a:xfrm>
          <a:prstGeom prst="rect">
            <a:avLst/>
          </a:prstGeom>
          <a:solidFill>
            <a:srgbClr val="0A0E18"/>
          </a:solidFill>
          <a:ln w="12700">
            <a:solidFill>
              <a:srgbClr val="2A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3767328"/>
            <a:ext cx="640080" cy="2560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374904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E1324"/>
                </a:solidFill>
              </a:rPr>
              <a:t>SQL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" y="4096512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4FF"/>
                </a:solidFill>
              </a:rPr>
              <a:t>CREATE TABLE posts (
    id      INT AUTO_INCREMENT PRIMARY KEY,
    title   VARCHAR(200) NOT NULL,
    user_id INT,
    FOREIGN KEY (user_id) REFERENCES users(id)
);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Table Relationships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15568"/>
            <a:ext cx="1280160" cy="4445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446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DC4"/>
                </a:solidFill>
              </a:rPr>
              <a:t>&lt;/&gt;  TA Ahmed Mohamed  |  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0D4FF"/>
                </a:solidFill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25880"/>
            <a:ext cx="3566160" cy="3200400"/>
          </a:xfrm>
          <a:prstGeom prst="rect">
            <a:avLst/>
          </a:prstGeom>
          <a:solidFill>
            <a:srgbClr val="151A2E"/>
          </a:solidFill>
          <a:ln w="12700">
            <a:solidFill>
              <a:srgbClr val="1E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325880"/>
            <a:ext cx="3566160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463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1️⃣  One-to-One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65960"/>
            <a:ext cx="3291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DC4"/>
                </a:solidFill>
              </a:rPr>
              <a:t>One record links to exactly one other record.
Example: User ↔ UserProfile
Use: FOREIGN KEY with UNIQUE constraint.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15968" y="1325880"/>
            <a:ext cx="3566160" cy="3200400"/>
          </a:xfrm>
          <a:prstGeom prst="rect">
            <a:avLst/>
          </a:prstGeom>
          <a:solidFill>
            <a:srgbClr val="151A2E"/>
          </a:solidFill>
          <a:ln w="12700">
            <a:solidFill>
              <a:srgbClr val="1E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15968" y="1325880"/>
            <a:ext cx="356616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98848" y="1463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1️⃣➡️🔢  One-to-Many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1965960"/>
            <a:ext cx="3291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DC4"/>
                </a:solidFill>
              </a:rPr>
              <a:t>One record relates to many others.
Example: User → Posts (one user writes many posts)
Use: Foreign key on the 'many' side table.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0456" y="1325880"/>
            <a:ext cx="3566160" cy="3200400"/>
          </a:xfrm>
          <a:prstGeom prst="rect">
            <a:avLst/>
          </a:prstGeom>
          <a:solidFill>
            <a:srgbClr val="151A2E"/>
          </a:solidFill>
          <a:ln w="12700">
            <a:solidFill>
              <a:srgbClr val="1E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0456" y="1325880"/>
            <a:ext cx="3566160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03336" y="1463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</a:rPr>
              <a:t>🔢↔️🔢  Many-to-Many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3336" y="1965960"/>
            <a:ext cx="3291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DC4"/>
                </a:solidFill>
              </a:rPr>
              <a:t>Many records on both sides.
Example: Students ↔ Courses
Use: A junction/bridge table in the middle.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4709160"/>
            <a:ext cx="11338560" cy="731520"/>
          </a:xfrm>
          <a:prstGeom prst="rect">
            <a:avLst/>
          </a:prstGeom>
          <a:solidFill>
            <a:srgbClr val="12182E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4754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💡  Most web apps use One-to-Many heavily. Always put the FK on the 'child' table side.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SQL JOINs – Combining Tables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15568"/>
            <a:ext cx="1280160" cy="4445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446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DC4"/>
                </a:solidFill>
              </a:rPr>
              <a:t>&lt;/&gt;  TA Ahmed Mohamed  |  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0D4FF"/>
                </a:solidFill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25880"/>
            <a:ext cx="5029200" cy="1143000"/>
          </a:xfrm>
          <a:prstGeom prst="rect">
            <a:avLst/>
          </a:prstGeom>
          <a:solidFill>
            <a:srgbClr val="151A2E"/>
          </a:solidFill>
          <a:ln w="12700">
            <a:solidFill>
              <a:srgbClr val="1E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325880"/>
            <a:ext cx="50800" cy="1143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41732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INNER JOIN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01368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DC4"/>
                </a:solidFill>
              </a:rPr>
              <a:t>Returns only rows that have a match in BOTH tables.
Most commonly used join.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606040"/>
            <a:ext cx="5029200" cy="1143000"/>
          </a:xfrm>
          <a:prstGeom prst="rect">
            <a:avLst/>
          </a:prstGeom>
          <a:solidFill>
            <a:srgbClr val="151A2E"/>
          </a:solidFill>
          <a:ln w="12700">
            <a:solidFill>
              <a:srgbClr val="1E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1480" y="2606040"/>
            <a:ext cx="50800" cy="1143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269748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LEFT JOIN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081528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DC4"/>
                </a:solidFill>
              </a:rPr>
              <a:t>Returns all rows from the LEFT table + matched rows from right.
Unmatched right rows become NULL.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886200"/>
            <a:ext cx="5029200" cy="1143000"/>
          </a:xfrm>
          <a:prstGeom prst="rect">
            <a:avLst/>
          </a:prstGeom>
          <a:solidFill>
            <a:srgbClr val="151A2E"/>
          </a:solidFill>
          <a:ln w="12700">
            <a:solidFill>
              <a:srgbClr val="1E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11480" y="3886200"/>
            <a:ext cx="50800" cy="1143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397764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RIGHT JOIN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361688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DC4"/>
                </a:solidFill>
              </a:rPr>
              <a:t>Returns all rows from the RIGHT table + matched left rows.
Rarely used — LEFT JOIN preferred.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0" y="1325880"/>
            <a:ext cx="6309360" cy="3794760"/>
          </a:xfrm>
          <a:prstGeom prst="rect">
            <a:avLst/>
          </a:prstGeom>
          <a:solidFill>
            <a:srgbClr val="0A0E18"/>
          </a:solidFill>
          <a:ln w="12700">
            <a:solidFill>
              <a:srgbClr val="2A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806440" y="1435608"/>
            <a:ext cx="640080" cy="2560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06440" y="141732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E1324"/>
                </a:solidFill>
              </a:rPr>
              <a:t>SQL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33872" y="1764792"/>
            <a:ext cx="603504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4FF"/>
                </a:solidFill>
              </a:rPr>
              <a:t>-- Get all posts WITH their author name
SELECT posts.title, users.name
FROM posts
INNER JOIN users
    ON posts.user_id = users.id;
-- Include posts even if no author
SELECT posts.title, users.name
FROM posts
LEFT JOIN users
    ON posts.user_id = users.id;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What is an ORM?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15568"/>
            <a:ext cx="1280160" cy="4445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446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DC4"/>
                </a:solidFill>
              </a:rPr>
              <a:t>&lt;/&gt;  TA Ahmed Mohamed  |  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0D4FF"/>
                </a:solidFill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25880"/>
            <a:ext cx="11338560" cy="1005840"/>
          </a:xfrm>
          <a:prstGeom prst="rect">
            <a:avLst/>
          </a:prstGeom>
          <a:solidFill>
            <a:srgbClr val="0F2235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D4FF"/>
                </a:solidFill>
              </a:rPr>
              <a:t>ORM  =  Object-Relational Mapper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DC4"/>
                </a:solidFill>
              </a:rPr>
              <a:t>A library that translates between Python objects and database rows — no raw SQL needed.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514600"/>
            <a:ext cx="3474720" cy="2560320"/>
          </a:xfrm>
          <a:prstGeom prst="rect">
            <a:avLst/>
          </a:prstGeom>
          <a:solidFill>
            <a:srgbClr val="151A2E"/>
          </a:solidFill>
          <a:ln w="12700">
            <a:solidFill>
              <a:srgbClr val="1E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1480" y="2514600"/>
            <a:ext cx="3474720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6072" y="2606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Python Class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3127248"/>
            <a:ext cx="32004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0ADC4"/>
                </a:solidFill>
              </a:rPr>
              <a:t>class User:
  id: int
  name: str
  email: str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47091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FF"/>
                </a:solidFill>
              </a:rPr>
              <a:t>You write Python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0520" y="2514600"/>
            <a:ext cx="3474720" cy="2560320"/>
          </a:xfrm>
          <a:prstGeom prst="rect">
            <a:avLst/>
          </a:prstGeom>
          <a:solidFill>
            <a:srgbClr val="151A2E"/>
          </a:solidFill>
          <a:ln w="12700">
            <a:solidFill>
              <a:srgbClr val="1E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160520" y="2514600"/>
            <a:ext cx="347472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25112" y="2606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ORM Magic
(SQLAlchemy)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25112" y="3127248"/>
            <a:ext cx="320040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DC4"/>
                </a:solidFill>
              </a:rPr>
              <a:t>⚙️  Translates
</a:t>
            </a:r>
            <a:r>
              <a:rPr b="0" i="0">
                <a:solidFill>
                  <a:srgbClr val="A0ADC4"/>
                </a:solidFill>
              </a:rPr>
              <a:t>Python → SQL
SQL → Python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5112" y="47091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9E0B"/>
                </a:solidFill>
              </a:rPr>
              <a:t>Handles mapping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09560" y="2514600"/>
            <a:ext cx="3474720" cy="2560320"/>
          </a:xfrm>
          <a:prstGeom prst="rect">
            <a:avLst/>
          </a:prstGeom>
          <a:solidFill>
            <a:srgbClr val="151A2E"/>
          </a:solidFill>
          <a:ln w="12700">
            <a:solidFill>
              <a:srgbClr val="1E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909560" y="2514600"/>
            <a:ext cx="3474720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74152" y="2606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</a:rPr>
              <a:t>MySQL Table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74152" y="3127248"/>
            <a:ext cx="32004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0ADC4"/>
                </a:solidFill>
              </a:rPr>
              <a:t>users
  id INT PK
  name VARCHAR
  email VARCHAR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74152" y="47091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5CF6"/>
                </a:solidFill>
              </a:rPr>
              <a:t>Database stores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86200" y="3749039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D4FF"/>
                </a:solidFill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800" y="3749039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D4FF"/>
                </a:solidFill>
              </a:rPr>
              <a:t>→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Why Use an ORM?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15568"/>
            <a:ext cx="1280160" cy="444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446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DC4"/>
                </a:solidFill>
              </a:rPr>
              <a:t>&lt;/&gt;  TA Ahmed Mohamed  |  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0D4FF"/>
                </a:solidFill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5349240" cy="1097280"/>
          </a:xfrm>
          <a:prstGeom prst="rect">
            <a:avLst/>
          </a:prstGeom>
          <a:solidFill>
            <a:srgbClr val="151A2E"/>
          </a:solidFill>
          <a:ln w="12700">
            <a:solidFill>
              <a:srgbClr val="1E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508760"/>
            <a:ext cx="50800" cy="8229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2648" y="1463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D4FF"/>
                </a:solidFill>
              </a:rPr>
              <a:t>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1463040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Write Python, Not 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1847088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DC4"/>
                </a:solidFill>
              </a:rPr>
              <a:t>Define tables as Python classes. Query using Python methods — feels natural and readable.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371600"/>
            <a:ext cx="5349240" cy="1097280"/>
          </a:xfrm>
          <a:prstGeom prst="rect">
            <a:avLst/>
          </a:prstGeom>
          <a:solidFill>
            <a:srgbClr val="151A2E"/>
          </a:solidFill>
          <a:ln w="12700">
            <a:solidFill>
              <a:srgbClr val="1E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35040" y="1508760"/>
            <a:ext cx="50800" cy="822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36208" y="1463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59E0B"/>
                </a:solidFill>
              </a:rPr>
              <a:t>🛡️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7688" y="1463040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SQL Injection Protection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7688" y="1847088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DC4"/>
                </a:solidFill>
              </a:rPr>
              <a:t>ORM automatically parameterizes queries — protecting your app from malicious input.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633472"/>
            <a:ext cx="5349240" cy="1097280"/>
          </a:xfrm>
          <a:prstGeom prst="rect">
            <a:avLst/>
          </a:prstGeom>
          <a:solidFill>
            <a:srgbClr val="151A2E"/>
          </a:solidFill>
          <a:ln w="12700">
            <a:solidFill>
              <a:srgbClr val="1E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11480" y="2770632"/>
            <a:ext cx="50800" cy="822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2648" y="272491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0B981"/>
                </a:solidFill>
              </a:rPr>
              <a:t>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2724912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Database Portability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310896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DC4"/>
                </a:solidFill>
              </a:rPr>
              <a:t>Switch from MySQL to PostgreSQL with almost zero code change. ORM abstracts the dialect.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2633472"/>
            <a:ext cx="5349240" cy="1097280"/>
          </a:xfrm>
          <a:prstGeom prst="rect">
            <a:avLst/>
          </a:prstGeom>
          <a:solidFill>
            <a:srgbClr val="151A2E"/>
          </a:solidFill>
          <a:ln w="12700">
            <a:solidFill>
              <a:srgbClr val="1E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035040" y="2770632"/>
            <a:ext cx="50800" cy="8229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36208" y="272491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B5CF6"/>
                </a:solidFill>
              </a:rPr>
              <a:t>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47688" y="2724912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Less Boilerplate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47688" y="310896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DC4"/>
                </a:solidFill>
              </a:rPr>
              <a:t>No manually building SQL strings. ORM generates INSERT, UPDATE, DELETE automatically.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3895344"/>
            <a:ext cx="5349240" cy="1097280"/>
          </a:xfrm>
          <a:prstGeom prst="rect">
            <a:avLst/>
          </a:prstGeom>
          <a:solidFill>
            <a:srgbClr val="151A2E"/>
          </a:solidFill>
          <a:ln w="12700">
            <a:solidFill>
              <a:srgbClr val="1E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11480" y="4032504"/>
            <a:ext cx="50800" cy="8229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2648" y="398678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D4FF"/>
                </a:solidFill>
              </a:rPr>
              <a:t>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" y="3986784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Built-in Relationships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" y="4370832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DC4"/>
                </a:solidFill>
              </a:rPr>
              <a:t>Load related objects easily: user.posts returns all posts for that user automatically.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0" y="3895344"/>
            <a:ext cx="5349240" cy="1097280"/>
          </a:xfrm>
          <a:prstGeom prst="rect">
            <a:avLst/>
          </a:prstGeom>
          <a:solidFill>
            <a:srgbClr val="151A2E"/>
          </a:solidFill>
          <a:ln w="12700">
            <a:solidFill>
              <a:srgbClr val="1E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035040" y="4032504"/>
            <a:ext cx="50800" cy="822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236208" y="398678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0B981"/>
                </a:solidFill>
              </a:rPr>
              <a:t>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47688" y="3986784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Validation &amp; Types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47688" y="4370832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DC4"/>
                </a:solidFill>
              </a:rPr>
              <a:t>Python type hints + SQLAlchemy columns ensure data integrity before it hits the DB.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SQLAlchemy – The Python ORM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15568"/>
            <a:ext cx="1280160" cy="4445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446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DC4"/>
                </a:solidFill>
              </a:rPr>
              <a:t>&lt;/&gt;  TA Ahmed Mohamed  |  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0D4FF"/>
                </a:solidFill>
              </a:rP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5303520" cy="1234440"/>
          </a:xfrm>
          <a:prstGeom prst="rect">
            <a:avLst/>
          </a:prstGeom>
          <a:solidFill>
            <a:srgbClr val="151A2E"/>
          </a:solidFill>
          <a:ln w="12700">
            <a:solidFill>
              <a:srgbClr val="1E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508760"/>
            <a:ext cx="50800" cy="9601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2648" y="1463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D4FF"/>
                </a:solidFill>
              </a:rPr>
              <a:t>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1463040"/>
            <a:ext cx="4434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Most Popular Python 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1847088"/>
            <a:ext cx="4434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DC4"/>
                </a:solidFill>
              </a:rPr>
              <a:t>Used in Flask, FastAPI, and standalone scripts worldwide.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770632"/>
            <a:ext cx="5303520" cy="1234440"/>
          </a:xfrm>
          <a:prstGeom prst="rect">
            <a:avLst/>
          </a:prstGeom>
          <a:solidFill>
            <a:srgbClr val="151A2E"/>
          </a:solidFill>
          <a:ln w="12700">
            <a:solidFill>
              <a:srgbClr val="1E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1480" y="2907792"/>
            <a:ext cx="50800" cy="9601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2648" y="28620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B5CF6"/>
                </a:solidFill>
              </a:rPr>
              <a:t>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2862072"/>
            <a:ext cx="4434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Two APIs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3246120"/>
            <a:ext cx="4434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DC4"/>
                </a:solidFill>
              </a:rPr>
              <a:t>Core (SQL expression layer) &amp; ORM (Python object layer). We use ORM style.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4169664"/>
            <a:ext cx="5303520" cy="1234440"/>
          </a:xfrm>
          <a:prstGeom prst="rect">
            <a:avLst/>
          </a:prstGeom>
          <a:solidFill>
            <a:srgbClr val="151A2E"/>
          </a:solidFill>
          <a:ln w="12700">
            <a:solidFill>
              <a:srgbClr val="1E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11480" y="4306824"/>
            <a:ext cx="50800" cy="960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2648" y="426110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0B981"/>
                </a:solidFill>
              </a:rPr>
              <a:t>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4261104"/>
            <a:ext cx="4434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MySQL Driver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4645152"/>
            <a:ext cx="4434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DC4"/>
                </a:solidFill>
              </a:rPr>
              <a:t>Needs PyMySQL or mysqlclient as a connector between SQLAlchemy and MySQL.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80760" y="1371600"/>
            <a:ext cx="5669280" cy="3794760"/>
          </a:xfrm>
          <a:prstGeom prst="rect">
            <a:avLst/>
          </a:prstGeom>
          <a:solidFill>
            <a:srgbClr val="151A2E"/>
          </a:solidFill>
          <a:ln w="12700">
            <a:solidFill>
              <a:srgbClr val="1E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63640" y="14630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</a:rPr>
              <a:t>📦  Installation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1920240"/>
            <a:ext cx="5486400" cy="3154680"/>
          </a:xfrm>
          <a:prstGeom prst="rect">
            <a:avLst/>
          </a:prstGeom>
          <a:solidFill>
            <a:srgbClr val="0A0E18"/>
          </a:solidFill>
          <a:ln w="12700">
            <a:solidFill>
              <a:srgbClr val="2A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309360" y="2029968"/>
            <a:ext cx="640080" cy="2560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09360" y="201168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E1324"/>
                </a:solidFill>
              </a:rPr>
              <a:t>BASH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36792" y="2359152"/>
            <a:ext cx="521208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D4FF"/>
                </a:solidFill>
              </a:rPr>
              <a:t># Install SQLAlchemy
pip install sqlalchemy
# Install MySQL connector (choose one)
pip install pymysql
# OR
pip install mysqlclient
# For FastAPI integration
pip install sqlalchemy[asyncio]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SQLAlchemy Setup – database.py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15568"/>
            <a:ext cx="1280160" cy="4445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446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DC4"/>
                </a:solidFill>
              </a:rPr>
              <a:t>&lt;/&gt;  TA Ahmed Mohamed  |  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0D4FF"/>
                </a:solidFill>
              </a:rP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25880"/>
            <a:ext cx="6858000" cy="4754880"/>
          </a:xfrm>
          <a:prstGeom prst="rect">
            <a:avLst/>
          </a:prstGeom>
          <a:solidFill>
            <a:srgbClr val="0A0E18"/>
          </a:solidFill>
          <a:ln w="12700">
            <a:solidFill>
              <a:srgbClr val="2A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435608"/>
            <a:ext cx="640080" cy="2560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E1324"/>
                </a:solidFill>
              </a:rPr>
              <a:t>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1896727"/>
            <a:ext cx="658368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FF"/>
                </a:solidFill>
              </a:rPr>
              <a:t>from sqlalchemy import create_engine
from sqlalchemy.orm import sessionmaker, DeclarativeBase
# 1. Connection URL
DATABASE_URL = (
    "mysql+pymysql://root:password@localhost:3306/mydb"
)
# 2. Create Engine  (one per app)
engine = create_engine(DATABASE_URL, echo=True)
# 3. Session Factory
SessionLocal = sessionmaker(
    autocommit=False, autoflush=False, bind=engine
)
# 4. Base class for all ORM models
class Base(DeclarativeBase):
    pass</a:t>
            </a:r>
            <a:endParaRPr lang="ar-EG" sz="1300" b="0" i="0">
              <a:solidFill>
                <a:srgbClr val="00D4FF"/>
              </a:solidFill>
            </a:endParaRPr>
          </a:p>
          <a:p>
            <a:pPr algn="l"/>
            <a:endParaRPr sz="1300" b="0" i="0">
              <a:solidFill>
                <a:srgbClr val="00D4FF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498079" y="1371600"/>
            <a:ext cx="4480560" cy="1024128"/>
          </a:xfrm>
          <a:prstGeom prst="rect">
            <a:avLst/>
          </a:prstGeom>
          <a:solidFill>
            <a:srgbClr val="151A2E"/>
          </a:solidFill>
          <a:ln w="12700">
            <a:solidFill>
              <a:srgbClr val="1E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498079" y="1508760"/>
            <a:ext cx="50800" cy="7498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99247" y="1463040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99247" y="1847088"/>
            <a:ext cx="40233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DC4"/>
                </a:solidFill>
              </a:rPr>
              <a:t>The connection to the DB. Like a database driver.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79" y="2542032"/>
            <a:ext cx="4480560" cy="1024128"/>
          </a:xfrm>
          <a:prstGeom prst="rect">
            <a:avLst/>
          </a:prstGeom>
          <a:solidFill>
            <a:srgbClr val="151A2E"/>
          </a:solidFill>
          <a:ln w="12700">
            <a:solidFill>
              <a:srgbClr val="1E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498079" y="2679192"/>
            <a:ext cx="50800" cy="7498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99247" y="2633472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SessionLocal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9247" y="3017520"/>
            <a:ext cx="40233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DC4"/>
                </a:solidFill>
              </a:rPr>
              <a:t>Factory to create DB sessions for each request.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79" y="3712464"/>
            <a:ext cx="4480560" cy="1024128"/>
          </a:xfrm>
          <a:prstGeom prst="rect">
            <a:avLst/>
          </a:prstGeom>
          <a:solidFill>
            <a:srgbClr val="151A2E"/>
          </a:solidFill>
          <a:ln w="12700">
            <a:solidFill>
              <a:srgbClr val="1E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498079" y="3849624"/>
            <a:ext cx="50800" cy="7498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99247" y="3803904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99247" y="4187952"/>
            <a:ext cx="40233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DC4"/>
                </a:solidFill>
              </a:rPr>
              <a:t>Parent class that all your models will inherit from.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79" y="4882896"/>
            <a:ext cx="4480560" cy="1024128"/>
          </a:xfrm>
          <a:prstGeom prst="rect">
            <a:avLst/>
          </a:prstGeom>
          <a:solidFill>
            <a:srgbClr val="151A2E"/>
          </a:solidFill>
          <a:ln w="12700">
            <a:solidFill>
              <a:srgbClr val="1E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498079" y="5020056"/>
            <a:ext cx="50800" cy="7498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699247" y="4974336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echo=True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99247" y="5358384"/>
            <a:ext cx="40233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DC4"/>
                </a:solidFill>
              </a:rPr>
              <a:t>Prints generated SQL — great for learning &amp; debugging.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Defining ORM Models – models.py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15568"/>
            <a:ext cx="1280160" cy="4445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446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DC4"/>
                </a:solidFill>
              </a:rPr>
              <a:t>&lt;/&gt;  TA Ahmed Mohamed  |  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0D4FF"/>
                </a:solidFill>
              </a:rPr>
              <a:t>16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25880"/>
            <a:ext cx="6858000" cy="5029200"/>
          </a:xfrm>
          <a:prstGeom prst="rect">
            <a:avLst/>
          </a:prstGeom>
          <a:solidFill>
            <a:srgbClr val="0A0E18"/>
          </a:solidFill>
          <a:ln w="12700">
            <a:solidFill>
              <a:srgbClr val="2A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435608"/>
            <a:ext cx="640080" cy="2560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E1324"/>
                </a:solidFill>
              </a:rPr>
              <a:t>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1764792"/>
            <a:ext cx="6583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D4FF"/>
                </a:solidFill>
              </a:rPr>
              <a:t>from sqlalchemy import Column, Integer, String, ForeignKey
from sqlalchemy.orm import relationship
from database import Base
class User(Base):
    __tablename__ = "users"
    id    = Column(Integer, primary_key=True, index=True)
    name  = Column(String(100), nullable=False)
    email = Column(String(150), unique=True, nullable=False)
    # Relationship to Post
    posts = relationship('Post', back_populates='author')
class Post(Base):
    __tablename__ = "posts"
    id      = Column(Integer, primary_key=True, index=True)
    title   = Column(String(200), nullable=False)
    user_id = Column(Integer, ForeignKey('users.id'))
    author  = relationship('User', back_populates='posts')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79" y="1371600"/>
            <a:ext cx="4480560" cy="914400"/>
          </a:xfrm>
          <a:prstGeom prst="rect">
            <a:avLst/>
          </a:prstGeom>
          <a:solidFill>
            <a:srgbClr val="151A2E"/>
          </a:solidFill>
          <a:ln w="12700">
            <a:solidFill>
              <a:srgbClr val="1E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498079" y="1508760"/>
            <a:ext cx="50800" cy="6400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99247" y="1463040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__tablename__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99247" y="1847088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DC4"/>
                </a:solidFill>
              </a:rPr>
              <a:t>Maps the class to a real table name in MySQL.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79" y="2395728"/>
            <a:ext cx="4480560" cy="914400"/>
          </a:xfrm>
          <a:prstGeom prst="rect">
            <a:avLst/>
          </a:prstGeom>
          <a:solidFill>
            <a:srgbClr val="151A2E"/>
          </a:solidFill>
          <a:ln w="12700">
            <a:solidFill>
              <a:srgbClr val="1E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498079" y="2532888"/>
            <a:ext cx="50800" cy="6400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99247" y="2487168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Column()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9247" y="2871216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DC4"/>
                </a:solidFill>
              </a:rPr>
              <a:t>Defines a column — type, constraints, index.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79" y="3419856"/>
            <a:ext cx="4480560" cy="914400"/>
          </a:xfrm>
          <a:prstGeom prst="rect">
            <a:avLst/>
          </a:prstGeom>
          <a:solidFill>
            <a:srgbClr val="151A2E"/>
          </a:solidFill>
          <a:ln w="12700">
            <a:solidFill>
              <a:srgbClr val="1E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498079" y="3557016"/>
            <a:ext cx="50800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99247" y="3511296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ForeignKey()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99247" y="3895344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DC4"/>
                </a:solidFill>
              </a:rPr>
              <a:t>Creates a link to the primary key of another table.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79" y="4443984"/>
            <a:ext cx="4480560" cy="914400"/>
          </a:xfrm>
          <a:prstGeom prst="rect">
            <a:avLst/>
          </a:prstGeom>
          <a:solidFill>
            <a:srgbClr val="151A2E"/>
          </a:solidFill>
          <a:ln w="12700">
            <a:solidFill>
              <a:srgbClr val="1E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498079" y="4581144"/>
            <a:ext cx="50800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699247" y="4535424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relationship()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99247" y="4919472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DC4"/>
                </a:solidFill>
              </a:rPr>
              <a:t>Allows user.posts and post.author in Python — no JOIN needed.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98079" y="5468112"/>
            <a:ext cx="4480560" cy="914400"/>
          </a:xfrm>
          <a:prstGeom prst="rect">
            <a:avLst/>
          </a:prstGeom>
          <a:solidFill>
            <a:srgbClr val="151A2E"/>
          </a:solidFill>
          <a:ln w="12700">
            <a:solidFill>
              <a:srgbClr val="1E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498079" y="5605272"/>
            <a:ext cx="50800" cy="6400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699247" y="5559552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Base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99247" y="594360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DC4"/>
                </a:solidFill>
              </a:rPr>
              <a:t>All models inherit from Base so SQLAlchemy knows about them.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Creating Tables &amp; DB Session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15568"/>
            <a:ext cx="1280160" cy="4445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446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DC4"/>
                </a:solidFill>
              </a:rPr>
              <a:t>&lt;/&gt;  TA Ahmed Mohamed  |  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0D4FF"/>
                </a:solidFill>
              </a:rPr>
              <a:t>17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25880"/>
            <a:ext cx="6217920" cy="4251960"/>
          </a:xfrm>
          <a:prstGeom prst="rect">
            <a:avLst/>
          </a:prstGeom>
          <a:solidFill>
            <a:srgbClr val="0A0E18"/>
          </a:solidFill>
          <a:ln w="12700">
            <a:solidFill>
              <a:srgbClr val="2A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435608"/>
            <a:ext cx="640080" cy="2560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E1324"/>
                </a:solidFill>
              </a:rPr>
              <a:t>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1764792"/>
            <a:ext cx="594360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D4FF"/>
                </a:solidFill>
              </a:rPr>
              <a:t># main.py or database.py
from database import Base, engine
import models  # import so Base knows them
# Create all tables in MySQL
Base.metadata.create_all(bind=engine)
# ─────────────────────────────────────
# Dependency for FastAPI routes
def get_db():
    db = SessionLocal()
    try:
        yield db
    finally:
        db.close()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03720" y="1325880"/>
            <a:ext cx="5074920" cy="868680"/>
          </a:xfrm>
          <a:prstGeom prst="rect">
            <a:avLst/>
          </a:prstGeom>
          <a:solidFill>
            <a:srgbClr val="151A2E"/>
          </a:solidFill>
          <a:ln w="12700">
            <a:solidFill>
              <a:srgbClr val="1E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903720" y="1463040"/>
            <a:ext cx="50800" cy="5943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04888" y="1417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D4FF"/>
                </a:solidFill>
              </a:rPr>
              <a:t>1️⃣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16368" y="1417320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Import Base + models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16368" y="1801368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DC4"/>
                </a:solidFill>
              </a:rPr>
              <a:t>SQLAlchemy scans all model classes.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03720" y="2304288"/>
            <a:ext cx="5074920" cy="868680"/>
          </a:xfrm>
          <a:prstGeom prst="rect">
            <a:avLst/>
          </a:prstGeom>
          <a:solidFill>
            <a:srgbClr val="151A2E"/>
          </a:solidFill>
          <a:ln w="12700">
            <a:solidFill>
              <a:srgbClr val="1E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903720" y="2441448"/>
            <a:ext cx="50800" cy="594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04888" y="239572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0B981"/>
                </a:solidFill>
              </a:rPr>
              <a:t>2️⃣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16368" y="2395728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create_all()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16368" y="2779776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DC4"/>
                </a:solidFill>
              </a:rPr>
              <a:t>Runs CREATE TABLE SQL for every model.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03720" y="3282696"/>
            <a:ext cx="5074920" cy="868680"/>
          </a:xfrm>
          <a:prstGeom prst="rect">
            <a:avLst/>
          </a:prstGeom>
          <a:solidFill>
            <a:srgbClr val="151A2E"/>
          </a:solidFill>
          <a:ln w="12700">
            <a:solidFill>
              <a:srgbClr val="1E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903720" y="3419856"/>
            <a:ext cx="50800" cy="5943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04888" y="337413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B5CF6"/>
                </a:solidFill>
              </a:rPr>
              <a:t>3️⃣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16368" y="3374136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get_db() dependency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16368" y="3758184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DC4"/>
                </a:solidFill>
              </a:rPr>
              <a:t>FastAPI calls this before each route.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03720" y="4261104"/>
            <a:ext cx="5074920" cy="868680"/>
          </a:xfrm>
          <a:prstGeom prst="rect">
            <a:avLst/>
          </a:prstGeom>
          <a:solidFill>
            <a:srgbClr val="151A2E"/>
          </a:solidFill>
          <a:ln w="12700">
            <a:solidFill>
              <a:srgbClr val="1E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903720" y="4398264"/>
            <a:ext cx="50800" cy="594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104888" y="435254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59E0B"/>
                </a:solidFill>
              </a:rPr>
              <a:t>4️⃣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4352544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yield db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16368" y="4736592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DC4"/>
                </a:solidFill>
              </a:rPr>
              <a:t>Passes the session to the route function.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03720" y="5239512"/>
            <a:ext cx="5074920" cy="868680"/>
          </a:xfrm>
          <a:prstGeom prst="rect">
            <a:avLst/>
          </a:prstGeom>
          <a:solidFill>
            <a:srgbClr val="151A2E"/>
          </a:solidFill>
          <a:ln w="12700">
            <a:solidFill>
              <a:srgbClr val="1E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903720" y="5376672"/>
            <a:ext cx="50800" cy="5943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104888" y="53309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D4FF"/>
                </a:solidFill>
              </a:rPr>
              <a:t>5️⃣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16368" y="5330952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db.close()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16368" y="571500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DC4"/>
                </a:solidFill>
              </a:rPr>
              <a:t>Releases the connection back to the pool.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ORM CRUD – Create &amp; Read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15568"/>
            <a:ext cx="1280160" cy="4445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446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DC4"/>
                </a:solidFill>
              </a:rPr>
              <a:t>&lt;/&gt;  TA Ahmed Mohamed  |  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0D4FF"/>
                </a:solidFill>
              </a:rPr>
              <a:t>18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25880"/>
            <a:ext cx="5486400" cy="43891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344168"/>
            <a:ext cx="5303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1324"/>
                </a:solidFill>
              </a:rPr>
              <a:t>✅  CREATE — Add a new record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810512"/>
            <a:ext cx="5486400" cy="2423160"/>
          </a:xfrm>
          <a:prstGeom prst="rect">
            <a:avLst/>
          </a:prstGeom>
          <a:solidFill>
            <a:srgbClr val="0A0E18"/>
          </a:solidFill>
          <a:ln w="12700">
            <a:solidFill>
              <a:srgbClr val="2A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640080" cy="2560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901952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E1324"/>
                </a:solidFill>
              </a:rPr>
              <a:t>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2249424"/>
            <a:ext cx="521208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4FF"/>
                </a:solidFill>
              </a:rPr>
              <a:t>from models import User
def create_user(db, name: str, email: str):
    new_user = User(name=name, email=email)
    db.add(new_user)      # stage the insert
    db.commit()           # write to DB
    db.refresh(new_user)  # reload from DB
    return new_user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325880"/>
            <a:ext cx="5577840" cy="43891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09360" y="1344168"/>
            <a:ext cx="5303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1324"/>
                </a:solidFill>
              </a:rPr>
              <a:t>🔍  READ — Query records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810512"/>
            <a:ext cx="5577840" cy="3383280"/>
          </a:xfrm>
          <a:prstGeom prst="rect">
            <a:avLst/>
          </a:prstGeom>
          <a:solidFill>
            <a:srgbClr val="0A0E18"/>
          </a:solidFill>
          <a:ln w="12700">
            <a:solidFill>
              <a:srgbClr val="2A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09360" y="1920240"/>
            <a:ext cx="640080" cy="2560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0" y="1901952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E1324"/>
                </a:solidFill>
              </a:rPr>
              <a:t>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792" y="2249424"/>
            <a:ext cx="53035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4FF"/>
                </a:solidFill>
              </a:rPr>
              <a:t># Get all users
users = db.query(User).all()
# Get by primary key
user = db.query(User).get(1)
# Filter
user = db.query(User)\
         .filter(User.email == email)\
         .first()
# Multiple filters
results = db.query(User)\
            .filter(User.age &gt; 18)\
            .order_by(User.name)\
            .limit(10)\
            .all()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4343400"/>
            <a:ext cx="5486400" cy="777240"/>
          </a:xfrm>
          <a:prstGeom prst="rect">
            <a:avLst/>
          </a:prstGeom>
          <a:solidFill>
            <a:srgbClr val="0D221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4389120"/>
            <a:ext cx="52120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💡  db.refresh(obj) reloads the object from DB so you get the auto-generated id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ORM CRUD – Update &amp; Delete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15568"/>
            <a:ext cx="1280160" cy="444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446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DC4"/>
                </a:solidFill>
              </a:rPr>
              <a:t>&lt;/&gt;  TA Ahmed Mohamed  |  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0D4FF"/>
                </a:solidFill>
              </a:rPr>
              <a:t>19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25880"/>
            <a:ext cx="5486400" cy="43891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344168"/>
            <a:ext cx="5303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1324"/>
                </a:solidFill>
              </a:rPr>
              <a:t>✏️  UPDATE — Modify a record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810512"/>
            <a:ext cx="5486400" cy="3383280"/>
          </a:xfrm>
          <a:prstGeom prst="rect">
            <a:avLst/>
          </a:prstGeom>
          <a:solidFill>
            <a:srgbClr val="0A0E18"/>
          </a:solidFill>
          <a:ln w="12700">
            <a:solidFill>
              <a:srgbClr val="2A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640080" cy="2560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901952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E1324"/>
                </a:solidFill>
              </a:rPr>
              <a:t>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2249424"/>
            <a:ext cx="52120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4FF"/>
                </a:solidFill>
              </a:rPr>
              <a:t>def update_user(db, user_id: int, new_name: str):
    # 1. Fetch the record
    user = db.query(User).get(user_id)
    if not user:
        return None
    # 2. Modify the Python object
    user.name = new_name
    # 3. Commit — SQLAlchemy detects the change
    db.commit()
    db.refresh(user)
    return user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325880"/>
            <a:ext cx="5577840" cy="43891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09360" y="1344168"/>
            <a:ext cx="5303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🗑️  DELETE — Remove a record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810512"/>
            <a:ext cx="5577840" cy="3383280"/>
          </a:xfrm>
          <a:prstGeom prst="rect">
            <a:avLst/>
          </a:prstGeom>
          <a:solidFill>
            <a:srgbClr val="0A0E18"/>
          </a:solidFill>
          <a:ln w="12700">
            <a:solidFill>
              <a:srgbClr val="2A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09360" y="1920240"/>
            <a:ext cx="640080" cy="2560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0" y="1901952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E1324"/>
                </a:solidFill>
              </a:rPr>
              <a:t>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792" y="2249424"/>
            <a:ext cx="53035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D4FF"/>
                </a:solidFill>
              </a:rPr>
              <a:t>def delete_user(db, user_id: int):
    user = db.query(User).get(user_id)
    if not user:
        return False
    db.delete(user)
    db.commit()
    return True
# ── Bulk delete with filter ──
db.query(User)\
  .filter(User.active == False)\
  .delete()
db.commit()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5285232"/>
            <a:ext cx="11338560" cy="685800"/>
          </a:xfrm>
          <a:prstGeom prst="rect">
            <a:avLst/>
          </a:prstGeom>
          <a:solidFill>
            <a:srgbClr val="251010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53309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⚠️  Always call db.commit() after add/delete/update. Without it, changes are NOT saved to the database.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ORM vs Raw SQL – When to Use What?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15568"/>
            <a:ext cx="1280160" cy="4445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446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DC4"/>
                </a:solidFill>
              </a:rPr>
              <a:t>&lt;/&gt;  TA Ahmed Mohamed  |  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0D4FF"/>
                </a:solidFill>
              </a:rPr>
              <a:t>20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5349240" cy="47548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38988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1324"/>
                </a:solidFill>
              </a:rPr>
              <a:t>✅  Use ORM When...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0760" y="1371600"/>
            <a:ext cx="5623560" cy="4754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0" y="138988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1324"/>
                </a:solidFill>
              </a:rPr>
              <a:t>⚡  Use Raw SQL When...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938528"/>
            <a:ext cx="5349240" cy="548640"/>
          </a:xfrm>
          <a:prstGeom prst="rect">
            <a:avLst/>
          </a:prstGeom>
          <a:solidFill>
            <a:srgbClr val="151A2E"/>
          </a:solidFill>
          <a:ln w="12700">
            <a:solidFill>
              <a:srgbClr val="1E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2029968"/>
            <a:ext cx="5074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✓  Building standard CRUD apps &amp; REST APIs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560320"/>
            <a:ext cx="5349240" cy="548640"/>
          </a:xfrm>
          <a:prstGeom prst="rect">
            <a:avLst/>
          </a:prstGeom>
          <a:solidFill>
            <a:srgbClr val="151A2E"/>
          </a:solidFill>
          <a:ln w="12700">
            <a:solidFill>
              <a:srgbClr val="1E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8" y="2651760"/>
            <a:ext cx="5074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✓  Team mixes Python devs with limited SQL knowledge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182112"/>
            <a:ext cx="5349240" cy="548640"/>
          </a:xfrm>
          <a:prstGeom prst="rect">
            <a:avLst/>
          </a:prstGeom>
          <a:solidFill>
            <a:srgbClr val="151A2E"/>
          </a:solidFill>
          <a:ln w="12700">
            <a:solidFill>
              <a:srgbClr val="1E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3273552"/>
            <a:ext cx="5074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✓  You need database portability (MySQL → PostgreSQL)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803904"/>
            <a:ext cx="5349240" cy="548640"/>
          </a:xfrm>
          <a:prstGeom prst="rect">
            <a:avLst/>
          </a:prstGeom>
          <a:solidFill>
            <a:srgbClr val="151A2E"/>
          </a:solidFill>
          <a:ln w="12700">
            <a:solidFill>
              <a:srgbClr val="1E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6928" y="3895344"/>
            <a:ext cx="5074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✓  Rapid development &amp; clean, readable code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4425696"/>
            <a:ext cx="5349240" cy="548640"/>
          </a:xfrm>
          <a:prstGeom prst="rect">
            <a:avLst/>
          </a:prstGeom>
          <a:solidFill>
            <a:srgbClr val="151A2E"/>
          </a:solidFill>
          <a:ln w="12700">
            <a:solidFill>
              <a:srgbClr val="1E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66928" y="4517136"/>
            <a:ext cx="5074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✓  Working with relationships between tables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80760" y="1938528"/>
            <a:ext cx="5623560" cy="548640"/>
          </a:xfrm>
          <a:prstGeom prst="rect">
            <a:avLst/>
          </a:prstGeom>
          <a:solidFill>
            <a:srgbClr val="151A2E"/>
          </a:solidFill>
          <a:ln w="12700">
            <a:solidFill>
              <a:srgbClr val="1E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36208" y="2029968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0ADC4"/>
                </a:solidFill>
              </a:rPr>
              <a:t>⚡  Complex analytical queries with multiple GROUP BYs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80760" y="2560320"/>
            <a:ext cx="5623560" cy="548640"/>
          </a:xfrm>
          <a:prstGeom prst="rect">
            <a:avLst/>
          </a:prstGeom>
          <a:solidFill>
            <a:srgbClr val="151A2E"/>
          </a:solidFill>
          <a:ln w="12700">
            <a:solidFill>
              <a:srgbClr val="1E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36208" y="2651760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0ADC4"/>
                </a:solidFill>
              </a:rPr>
              <a:t>⚡  Performance-critical bulk operations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80760" y="3182112"/>
            <a:ext cx="5623560" cy="548640"/>
          </a:xfrm>
          <a:prstGeom prst="rect">
            <a:avLst/>
          </a:prstGeom>
          <a:solidFill>
            <a:srgbClr val="151A2E"/>
          </a:solidFill>
          <a:ln w="12700">
            <a:solidFill>
              <a:srgbClr val="1E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36208" y="3273552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0ADC4"/>
                </a:solidFill>
              </a:rPr>
              <a:t>⚡  Database-specific features (stored procedures)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80760" y="3803904"/>
            <a:ext cx="5623560" cy="548640"/>
          </a:xfrm>
          <a:prstGeom prst="rect">
            <a:avLst/>
          </a:prstGeom>
          <a:solidFill>
            <a:srgbClr val="151A2E"/>
          </a:solidFill>
          <a:ln w="12700">
            <a:solidFill>
              <a:srgbClr val="1E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36208" y="3895344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0ADC4"/>
                </a:solidFill>
              </a:rPr>
              <a:t>⚡  Large data migrations &amp; batch inserts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80760" y="4425696"/>
            <a:ext cx="5623560" cy="548640"/>
          </a:xfrm>
          <a:prstGeom prst="rect">
            <a:avLst/>
          </a:prstGeom>
          <a:solidFill>
            <a:srgbClr val="151A2E"/>
          </a:solidFill>
          <a:ln w="12700">
            <a:solidFill>
              <a:srgbClr val="1E2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36208" y="4517136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0ADC4"/>
                </a:solidFill>
              </a:rPr>
              <a:t>⚡  Data warehousing / reporting workloads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5230368"/>
            <a:ext cx="11338560" cy="658368"/>
          </a:xfrm>
          <a:prstGeom prst="rect">
            <a:avLst/>
          </a:prstGeom>
          <a:solidFill>
            <a:srgbClr val="121028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4360" y="52760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🏆  Verdict: Start with ORM (SQLAlchemy). Drop down to raw SQL only for the 10% of cases where performance demands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2724</Words>
  <Application>Microsoft Office PowerPoint</Application>
  <PresentationFormat>Widescreen</PresentationFormat>
  <Paragraphs>304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ahmed mostafa</cp:lastModifiedBy>
  <cp:revision>3</cp:revision>
  <dcterms:created xsi:type="dcterms:W3CDTF">2013-01-27T09:14:16Z</dcterms:created>
  <dcterms:modified xsi:type="dcterms:W3CDTF">2026-03-10T00:17:59Z</dcterms:modified>
  <cp:category/>
</cp:coreProperties>
</file>